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57" r:id="rId4"/>
    <p:sldId id="259" r:id="rId5"/>
    <p:sldId id="260" r:id="rId6"/>
    <p:sldId id="271" r:id="rId7"/>
    <p:sldId id="269" r:id="rId8"/>
    <p:sldId id="270" r:id="rId9"/>
    <p:sldId id="272" r:id="rId10"/>
    <p:sldId id="268" r:id="rId11"/>
    <p:sldId id="262" r:id="rId12"/>
    <p:sldId id="274" r:id="rId13"/>
    <p:sldId id="273" r:id="rId14"/>
    <p:sldId id="275" r:id="rId15"/>
    <p:sldId id="261" r:id="rId16"/>
    <p:sldId id="276" r:id="rId17"/>
    <p:sldId id="265" r:id="rId18"/>
    <p:sldId id="278" r:id="rId19"/>
    <p:sldId id="279" r:id="rId20"/>
    <p:sldId id="267" r:id="rId21"/>
    <p:sldId id="266" r:id="rId22"/>
    <p:sldId id="28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04"/>
  </p:normalViewPr>
  <p:slideViewPr>
    <p:cSldViewPr snapToGrid="0">
      <p:cViewPr varScale="1">
        <p:scale>
          <a:sx n="116" d="100"/>
          <a:sy n="116" d="100"/>
        </p:scale>
        <p:origin x="2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38E6-EEE6-D8B1-926F-C394F4224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6" y="2416853"/>
            <a:ext cx="8361229" cy="2098226"/>
          </a:xfrm>
        </p:spPr>
        <p:txBody>
          <a:bodyPr/>
          <a:lstStyle/>
          <a:p>
            <a:r>
              <a:rPr lang="en-CN" dirty="0"/>
              <a:t>Legal Reasoning in the US Supreme Court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5D53D-5E8C-30C5-B999-B4096471F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5" y="4515079"/>
            <a:ext cx="6831673" cy="1086237"/>
          </a:xfrm>
        </p:spPr>
        <p:txBody>
          <a:bodyPr/>
          <a:lstStyle/>
          <a:p>
            <a:r>
              <a:rPr lang="en-CN" dirty="0"/>
              <a:t>Brady Earley</a:t>
            </a:r>
          </a:p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/hsdC0nUITco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3326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31993-2F2A-861D-31D3-A305EF0CB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6C0835-CDCD-31AC-50FC-A73D11A45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8EC9D4-CE4B-2FDC-0034-40E91EF37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1D33223-92BB-DB72-542C-97BAFAFB0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9AC6269A-A19F-BA4B-ADEA-C5AB90177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F72F23DD-14DD-999C-C25D-C6E53C4AD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en-CN" dirty="0"/>
              <a:t>background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DFC23E1-7020-526A-C9D1-C6602968A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1582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EF89-1E84-1C5C-8679-467A8B42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1EAC-6672-0ED3-85D8-0DA3C91EB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Judges do 3 things when deciding cases:</a:t>
            </a:r>
          </a:p>
          <a:p>
            <a:pPr lvl="1"/>
            <a:r>
              <a:rPr lang="en-CN" dirty="0"/>
              <a:t>1) Declare law</a:t>
            </a:r>
          </a:p>
          <a:p>
            <a:pPr lvl="1"/>
            <a:r>
              <a:rPr lang="en-CN" dirty="0"/>
              <a:t>2) Find facts</a:t>
            </a:r>
          </a:p>
          <a:p>
            <a:pPr lvl="1"/>
            <a:r>
              <a:rPr lang="en-CN" dirty="0"/>
              <a:t>3) Apply the law declared to the facts found</a:t>
            </a:r>
          </a:p>
          <a:p>
            <a:r>
              <a:rPr lang="en-CN" dirty="0"/>
              <a:t>In easy cases, the law and facts match well</a:t>
            </a:r>
          </a:p>
          <a:p>
            <a:r>
              <a:rPr lang="en-CN" dirty="0"/>
              <a:t>In hard cases, judges can either </a:t>
            </a:r>
          </a:p>
          <a:p>
            <a:pPr lvl="1"/>
            <a:r>
              <a:rPr lang="en-CN" dirty="0"/>
              <a:t>1) issue a narrow decision (more restraint, less guidance to future courts)</a:t>
            </a:r>
          </a:p>
          <a:p>
            <a:pPr lvl="1"/>
            <a:r>
              <a:rPr lang="en-CN" dirty="0"/>
              <a:t>2) issue a broad ruling (less restraint, more guidance to future courts)</a:t>
            </a:r>
          </a:p>
          <a:p>
            <a:r>
              <a:rPr lang="en-CN" dirty="0"/>
              <a:t>Question: How does the US Supreme Court strike th</a:t>
            </a:r>
            <a:r>
              <a:rPr lang="en-US" dirty="0"/>
              <a:t>is</a:t>
            </a:r>
            <a:r>
              <a:rPr lang="en-CN" dirty="0"/>
              <a:t> balance?</a:t>
            </a:r>
          </a:p>
        </p:txBody>
      </p:sp>
    </p:spTree>
    <p:extLst>
      <p:ext uri="{BB962C8B-B14F-4D97-AF65-F5344CB8AC3E}">
        <p14:creationId xmlns:p14="http://schemas.microsoft.com/office/powerpoint/2010/main" val="240716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E2B8A2D-F46F-4DA5-8AFF-BC57461C2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E6196-F0CB-29C9-C846-9C389EF7B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>
            <a:normAutofit/>
          </a:bodyPr>
          <a:lstStyle/>
          <a:p>
            <a:r>
              <a:rPr lang="en-CN" sz="3400"/>
              <a:t>ML Task: Classify Legal Reasoning in Supreme Court Opinions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3B67-9718-6930-6179-30B0C8CA3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743" y="2286000"/>
            <a:ext cx="5793475" cy="3581400"/>
          </a:xfrm>
        </p:spPr>
        <p:txBody>
          <a:bodyPr>
            <a:normAutofit/>
          </a:bodyPr>
          <a:lstStyle/>
          <a:p>
            <a:r>
              <a:rPr lang="en-CN" dirty="0"/>
              <a:t>Th</a:t>
            </a:r>
            <a:r>
              <a:rPr lang="en-US" dirty="0"/>
              <a:t>is</a:t>
            </a:r>
            <a:r>
              <a:rPr lang="en-CN" dirty="0"/>
              <a:t> project focuses on the first step to answering my research question</a:t>
            </a:r>
          </a:p>
          <a:p>
            <a:r>
              <a:rPr lang="en-CN" dirty="0"/>
              <a:t>My task here is to first classify Supreme Court opinions into legal vs non-legal reasoning</a:t>
            </a:r>
          </a:p>
          <a:p>
            <a:r>
              <a:rPr lang="en-CN" dirty="0"/>
              <a:t>The relevant document is a </a:t>
            </a:r>
            <a:r>
              <a:rPr lang="en-CN" b="1" dirty="0"/>
              <a:t>paragraph</a:t>
            </a:r>
            <a:r>
              <a:rPr lang="en-CN" dirty="0"/>
              <a:t> from the court opinion</a:t>
            </a:r>
          </a:p>
          <a:p>
            <a:r>
              <a:rPr lang="en-CN" dirty="0"/>
              <a:t>This is a supervised ML task</a:t>
            </a:r>
          </a:p>
          <a:p>
            <a:pPr lvl="1"/>
            <a:r>
              <a:rPr lang="en-CN" dirty="0"/>
              <a:t>Author labeled data for training set</a:t>
            </a:r>
          </a:p>
          <a:p>
            <a:pPr lvl="1"/>
            <a:endParaRPr lang="en-CN" dirty="0"/>
          </a:p>
          <a:p>
            <a:pPr lvl="1"/>
            <a:endParaRPr lang="en-CN" dirty="0"/>
          </a:p>
          <a:p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2BAD85-00E4-4D0A-993C-8372E78E1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pic>
        <p:nvPicPr>
          <p:cNvPr id="6" name="Picture 5" descr="A close-up of a text&#10;&#10;AI-generated content may be incorrect.">
            <a:extLst>
              <a:ext uri="{FF2B5EF4-FFF2-40B4-BE49-F238E27FC236}">
                <a16:creationId xmlns:a16="http://schemas.microsoft.com/office/drawing/2014/main" id="{70909D63-71B1-3192-8721-0E9E2DC1F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90" y="1016871"/>
            <a:ext cx="3730079" cy="1958291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 descr="A close up of a text&#10;&#10;AI-generated content may be incorrect.">
            <a:extLst>
              <a:ext uri="{FF2B5EF4-FFF2-40B4-BE49-F238E27FC236}">
                <a16:creationId xmlns:a16="http://schemas.microsoft.com/office/drawing/2014/main" id="{51A38808-7E6D-B10E-D393-607DC183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090" y="4223208"/>
            <a:ext cx="3730079" cy="1277552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BB8D4C-72C8-7DA9-7E39-50BCA6FD0E5C}"/>
              </a:ext>
            </a:extLst>
          </p:cNvPr>
          <p:cNvSpPr txBox="1"/>
          <p:nvPr/>
        </p:nvSpPr>
        <p:spPr>
          <a:xfrm>
            <a:off x="8151509" y="3465798"/>
            <a:ext cx="38280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Non-legal reasoning involves fact finding and procedural background</a:t>
            </a:r>
          </a:p>
          <a:p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B3130F-1189-9434-0BC2-E1C27A46B5B1}"/>
              </a:ext>
            </a:extLst>
          </p:cNvPr>
          <p:cNvSpPr txBox="1"/>
          <p:nvPr/>
        </p:nvSpPr>
        <p:spPr>
          <a:xfrm>
            <a:off x="7497961" y="243674"/>
            <a:ext cx="446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CN" dirty="0"/>
              <a:t>Legal reasoning involves law declaring and law applying</a:t>
            </a:r>
          </a:p>
        </p:txBody>
      </p:sp>
    </p:spTree>
    <p:extLst>
      <p:ext uri="{BB962C8B-B14F-4D97-AF65-F5344CB8AC3E}">
        <p14:creationId xmlns:p14="http://schemas.microsoft.com/office/powerpoint/2010/main" val="2543600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BA7F3F-D56F-4C06-84AC-03FC83B06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5374B5-D7C8-4AA9-BE65-DB7A0CA9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3A7452-ED0F-4903-A620-8D103E556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6A3F6CE-D581-4C37-8822-4F4A68325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E05E372-C9A1-8B2F-1161-589C6783A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en-CN" dirty="0"/>
              <a:t>Data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477123D-61D0-3C58-F6E4-E9248E63D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098297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43EB-18EC-9355-EB04-9FFAACA5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CN" dirty="0"/>
              <a:t>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07EB6-C31A-24AA-0F3E-178894C1F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en-CN" dirty="0"/>
              <a:t>CourtListener API</a:t>
            </a:r>
          </a:p>
          <a:p>
            <a:r>
              <a:rPr lang="en-CN" dirty="0"/>
              <a:t>Supreme Court Majority Opinions since John Roberts became the Chief Justice (September 2005) to the end of 2025</a:t>
            </a:r>
          </a:p>
          <a:p>
            <a:r>
              <a:rPr lang="en-CN" dirty="0"/>
              <a:t>3026 Opinions in total</a:t>
            </a:r>
          </a:p>
          <a:p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8CF54-7ED2-D4FB-188B-9DE4FC340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67" y="1045032"/>
            <a:ext cx="6517065" cy="444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44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DC2F-D979-D9AE-30C9-2FD2A02E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br>
              <a:rPr lang="en-US" dirty="0"/>
            </a:b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3C57A-D492-1126-81AC-1748D54E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Removed duplicates (3026 opinions -&gt; 2435 opinions)</a:t>
            </a:r>
          </a:p>
          <a:p>
            <a:pPr lvl="1"/>
            <a:r>
              <a:rPr lang="en-CN" dirty="0"/>
              <a:t>Multiple versions housed in API</a:t>
            </a:r>
          </a:p>
          <a:p>
            <a:r>
              <a:rPr lang="en-CN" dirty="0"/>
              <a:t>Identified true majority opinions only (2435 opinions -&gt; 1856 opinions)</a:t>
            </a:r>
          </a:p>
          <a:p>
            <a:pPr lvl="1"/>
            <a:r>
              <a:rPr lang="en-CN" dirty="0"/>
              <a:t>API query often included full opinion text (concurrences and dissents)</a:t>
            </a:r>
          </a:p>
          <a:p>
            <a:r>
              <a:rPr lang="en-CN" dirty="0"/>
              <a:t>Split each majority opinion into paragraphs (1856 opinions -&gt; 83,040 paragraphs)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6371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79CA-3186-CCCD-F921-E7C1D2EF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Features (</a:t>
            </a:r>
            <a:r>
              <a:rPr lang="en-CN" dirty="0">
                <a:solidFill>
                  <a:srgbClr val="FF0000"/>
                </a:solidFill>
              </a:rPr>
              <a:t>numeric</a:t>
            </a:r>
            <a:r>
              <a:rPr lang="en-CN" dirty="0"/>
              <a:t>, </a:t>
            </a:r>
            <a:r>
              <a:rPr lang="en-CN" dirty="0">
                <a:solidFill>
                  <a:srgbClr val="00B0F0"/>
                </a:solidFill>
              </a:rPr>
              <a:t>text, </a:t>
            </a:r>
            <a:r>
              <a:rPr lang="en-CN" dirty="0">
                <a:solidFill>
                  <a:srgbClr val="00B050"/>
                </a:solidFill>
              </a:rPr>
              <a:t>categorical</a:t>
            </a:r>
            <a:r>
              <a:rPr lang="en-C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8594-9C83-3017-4B98-F8E337F24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/>
          <a:lstStyle/>
          <a:p>
            <a:r>
              <a:rPr lang="en-CN" dirty="0">
                <a:solidFill>
                  <a:srgbClr val="FF0000"/>
                </a:solidFill>
              </a:rPr>
              <a:t>Case ID</a:t>
            </a:r>
          </a:p>
          <a:p>
            <a:r>
              <a:rPr lang="en-CN" dirty="0">
                <a:solidFill>
                  <a:srgbClr val="FF0000"/>
                </a:solidFill>
              </a:rPr>
              <a:t>Opinion ID</a:t>
            </a:r>
          </a:p>
          <a:p>
            <a:r>
              <a:rPr lang="en-CN" dirty="0">
                <a:solidFill>
                  <a:srgbClr val="FF0000"/>
                </a:solidFill>
              </a:rPr>
              <a:t>Paragraph Number</a:t>
            </a:r>
            <a:r>
              <a:rPr lang="en-CN" dirty="0"/>
              <a:t>: paragraph # within the majority opinion (e.g., 3 of 20)</a:t>
            </a:r>
          </a:p>
          <a:p>
            <a:r>
              <a:rPr lang="en-CN" dirty="0">
                <a:solidFill>
                  <a:srgbClr val="00B0F0"/>
                </a:solidFill>
              </a:rPr>
              <a:t>Paragraph Text</a:t>
            </a:r>
          </a:p>
          <a:p>
            <a:r>
              <a:rPr lang="en-CN" dirty="0">
                <a:solidFill>
                  <a:srgbClr val="FF0000"/>
                </a:solidFill>
              </a:rPr>
              <a:t>Total Paragraphs</a:t>
            </a:r>
            <a:r>
              <a:rPr lang="en-CN" dirty="0"/>
              <a:t>: total paragraph # in the majority opinion (e.g., 20)</a:t>
            </a:r>
          </a:p>
          <a:p>
            <a:r>
              <a:rPr lang="en-CN" dirty="0">
                <a:solidFill>
                  <a:srgbClr val="00B050"/>
                </a:solidFill>
              </a:rPr>
              <a:t>Legal (Target)</a:t>
            </a:r>
            <a:r>
              <a:rPr lang="en-CN" dirty="0"/>
              <a:t>: 0 for non-legal and 1 for legal reasoning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A1114-519B-AB09-8C44-0B7460EA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86301"/>
            <a:ext cx="7772400" cy="170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97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5988-F4B3-5F51-6555-5B642933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Labeling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43353-9743-BB1E-B30B-CDE0979B4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I randomly sampled 100 cases (4,953 paragraphs) to hand label</a:t>
            </a:r>
          </a:p>
          <a:p>
            <a:r>
              <a:rPr lang="en-CN" dirty="0"/>
              <a:t>I read through each paragraph and classified it as either legal reasoning or non-legal reasoning</a:t>
            </a:r>
          </a:p>
          <a:p>
            <a:r>
              <a:rPr lang="en-CN" dirty="0"/>
              <a:t>The labeling was based on my training in law school from reading judicial opinions</a:t>
            </a:r>
          </a:p>
        </p:txBody>
      </p:sp>
    </p:spTree>
    <p:extLst>
      <p:ext uri="{BB962C8B-B14F-4D97-AF65-F5344CB8AC3E}">
        <p14:creationId xmlns:p14="http://schemas.microsoft.com/office/powerpoint/2010/main" val="246084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29ADC-D5EA-335E-06B5-596AFFC2D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D9656E-FCE7-C638-18FB-FF9BAE6DD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BB81A3-D51D-B797-7267-23AFCEFD8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262B3FA-99E4-18D8-9008-1066F5E62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445336F-263B-6FC2-CCF9-D7F7038B8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6C6A1E16-8C2F-B6A9-814E-803716B32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en-CN" dirty="0"/>
              <a:t>Models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0144CC-5E1C-B1A6-7E56-73B721264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28236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DECD-1A4B-5108-1365-565328A79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DT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4190-88A1-99B2-22D4-0B0DCAC81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TF-IDF Count Vectorizer</a:t>
            </a:r>
          </a:p>
          <a:p>
            <a:r>
              <a:rPr lang="en-US" dirty="0" err="1"/>
              <a:t>GridSearchCV</a:t>
            </a:r>
            <a:endParaRPr lang="en-US" dirty="0"/>
          </a:p>
          <a:p>
            <a:pPr lvl="1"/>
            <a:r>
              <a:rPr lang="en-US" i="0" dirty="0"/>
              <a:t>criterion: '</a:t>
            </a:r>
            <a:r>
              <a:rPr lang="en-US" i="0" dirty="0" err="1"/>
              <a:t>gini</a:t>
            </a:r>
            <a:r>
              <a:rPr lang="en-US" i="0" dirty="0"/>
              <a:t>’ </a:t>
            </a:r>
          </a:p>
          <a:p>
            <a:pPr lvl="1"/>
            <a:r>
              <a:rPr lang="en-US" i="0" dirty="0" err="1"/>
              <a:t>max_depth</a:t>
            </a:r>
            <a:r>
              <a:rPr lang="en-US" i="0" dirty="0"/>
              <a:t>: 7 </a:t>
            </a:r>
          </a:p>
          <a:p>
            <a:pPr lvl="1"/>
            <a:r>
              <a:rPr lang="en-US" i="0" dirty="0" err="1"/>
              <a:t>min_samples_leaf</a:t>
            </a:r>
            <a:r>
              <a:rPr lang="en-US" i="0" dirty="0"/>
              <a:t>: 3 </a:t>
            </a:r>
          </a:p>
          <a:p>
            <a:pPr lvl="1"/>
            <a:r>
              <a:rPr lang="en-US" i="0" dirty="0" err="1"/>
              <a:t>min_samples_split</a:t>
            </a:r>
            <a:r>
              <a:rPr lang="en-US" i="0" dirty="0"/>
              <a:t>: 2</a:t>
            </a:r>
          </a:p>
          <a:p>
            <a:pPr lvl="1"/>
            <a:endParaRPr lang="en-US" dirty="0"/>
          </a:p>
          <a:p>
            <a:r>
              <a:rPr lang="en-US" dirty="0"/>
              <a:t>Cross-Validation Scores (</a:t>
            </a:r>
            <a:r>
              <a:rPr lang="en-US" dirty="0" err="1"/>
              <a:t>Kfold</a:t>
            </a:r>
            <a:r>
              <a:rPr lang="en-US" dirty="0"/>
              <a:t> is 5)</a:t>
            </a:r>
          </a:p>
          <a:p>
            <a:pPr lvl="1"/>
            <a:endParaRPr lang="en-C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80D66-6CA0-F996-2F28-7CC3A72A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600700"/>
            <a:ext cx="68199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3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0A72-09A7-0999-F1A5-7766792F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Very Low Information Gain at Top Node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891E94-6313-EB33-DF30-87E1C0587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788842"/>
            <a:ext cx="9601200" cy="257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4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87C0-58B8-2A36-B4A5-F77774D6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BC86-F4AE-8592-86AD-86B59241F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Random Forest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F6CBE-1C80-E3E7-86DA-F8E47561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TF-IDF Count Vectorizer</a:t>
            </a:r>
          </a:p>
          <a:p>
            <a:r>
              <a:rPr lang="en-US" dirty="0" err="1"/>
              <a:t>GridSearchCV</a:t>
            </a:r>
            <a:endParaRPr lang="en-US" dirty="0"/>
          </a:p>
          <a:p>
            <a:pPr lvl="1"/>
            <a:r>
              <a:rPr lang="en-US" i="0" dirty="0"/>
              <a:t>criterion: ‘entropy’ </a:t>
            </a:r>
          </a:p>
          <a:p>
            <a:pPr lvl="1"/>
            <a:r>
              <a:rPr lang="en-US" i="0" dirty="0" err="1"/>
              <a:t>max_depth</a:t>
            </a:r>
            <a:r>
              <a:rPr lang="en-US" i="0" dirty="0"/>
              <a:t>: None </a:t>
            </a:r>
          </a:p>
          <a:p>
            <a:pPr lvl="1"/>
            <a:r>
              <a:rPr lang="en-US" i="0" dirty="0" err="1"/>
              <a:t>min_samples_leaf</a:t>
            </a:r>
            <a:r>
              <a:rPr lang="en-US" i="0" dirty="0"/>
              <a:t>: 1 </a:t>
            </a:r>
          </a:p>
          <a:p>
            <a:pPr lvl="1"/>
            <a:r>
              <a:rPr lang="en-US" i="0" dirty="0" err="1"/>
              <a:t>min_samples_split</a:t>
            </a:r>
            <a:r>
              <a:rPr lang="en-US" i="0" dirty="0"/>
              <a:t>: 5</a:t>
            </a:r>
          </a:p>
          <a:p>
            <a:pPr lvl="1"/>
            <a:r>
              <a:rPr lang="en-US" i="0" dirty="0" err="1"/>
              <a:t>n_estimators</a:t>
            </a:r>
            <a:r>
              <a:rPr lang="en-US" i="0" dirty="0"/>
              <a:t>: 1000</a:t>
            </a:r>
          </a:p>
          <a:p>
            <a:r>
              <a:rPr lang="en-US" dirty="0"/>
              <a:t>Cross-Validation Scores (</a:t>
            </a:r>
            <a:r>
              <a:rPr lang="en-US" dirty="0" err="1"/>
              <a:t>Kfold</a:t>
            </a:r>
            <a:r>
              <a:rPr lang="en-US" dirty="0"/>
              <a:t> is 5)</a:t>
            </a:r>
          </a:p>
          <a:p>
            <a:pPr lvl="1"/>
            <a:endParaRPr lang="en-C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3BD95-DA0C-D932-96FD-58BC1B405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676900"/>
            <a:ext cx="68072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3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D80F9-B41E-0E2C-3A39-B494B9D6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Better Information Gain at Top Node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BFECDC-0C40-8219-BE2D-2094D0076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0059" y="2286000"/>
            <a:ext cx="5384281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73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D505-2F43-541E-32E8-13DB6722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Tree-Based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BB31-6113-DD9F-48DD-69CA8791F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RF model was 2-6 percentage points higher on accuracy than DT model</a:t>
            </a:r>
          </a:p>
          <a:p>
            <a:r>
              <a:rPr lang="en-US" dirty="0"/>
              <a:t>Variance across RF model scores was also lower</a:t>
            </a:r>
          </a:p>
          <a:p>
            <a:r>
              <a:rPr lang="en-US" dirty="0"/>
              <a:t>RF is predictably better than DT for this situation given its stability and tendency to not overfit with more complex data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53273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25E602A-53EB-4CB1-9633-3EC058740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DF3DF-FA4D-03B2-0A1C-69B0189A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>
            <a:normAutofit/>
          </a:bodyPr>
          <a:lstStyle/>
          <a:p>
            <a:r>
              <a:rPr lang="en-CN"/>
              <a:t>But RF still has problems</a:t>
            </a:r>
            <a:endParaRPr lang="en-C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173763-2C2B-75FD-D756-91155FFB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94" y="643467"/>
            <a:ext cx="3220357" cy="27051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6B7A96-F900-B1E7-3223-DC35199D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" y="4303969"/>
            <a:ext cx="3730079" cy="1165649"/>
          </a:xfrm>
          <a:prstGeom prst="rect">
            <a:avLst/>
          </a:prstGeom>
          <a:ln>
            <a:noFill/>
          </a:ln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832F3F2-2294-4A8D-ABDC-234B853C7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3C827C-8AE0-EFA0-0128-0A6786E31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824" y="2286000"/>
            <a:ext cx="6176776" cy="3581400"/>
          </a:xfrm>
        </p:spPr>
        <p:txBody>
          <a:bodyPr>
            <a:normAutofit/>
          </a:bodyPr>
          <a:lstStyle/>
          <a:p>
            <a:r>
              <a:rPr lang="en-US" dirty="0"/>
              <a:t>Recall is very poor</a:t>
            </a:r>
          </a:p>
          <a:p>
            <a:r>
              <a:rPr lang="en-US" dirty="0"/>
              <a:t>Class imbalance is likely the problem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A76980CE-9183-17BE-81A2-AA56B133C565}"/>
              </a:ext>
            </a:extLst>
          </p:cNvPr>
          <p:cNvSpPr/>
          <p:nvPr/>
        </p:nvSpPr>
        <p:spPr>
          <a:xfrm>
            <a:off x="2027103" y="4203747"/>
            <a:ext cx="682143" cy="73343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567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4EAC-3A04-BB94-542C-20656E39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685B8-BB8A-DA86-1326-013FEC2B9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CountVectorizer</a:t>
            </a:r>
            <a:endParaRPr lang="en-US" dirty="0"/>
          </a:p>
          <a:p>
            <a:pPr lvl="1"/>
            <a:r>
              <a:rPr lang="en-US" dirty="0"/>
              <a:t>More sensible with paragraphs as documents(?)</a:t>
            </a:r>
          </a:p>
          <a:p>
            <a:r>
              <a:rPr lang="en-US" dirty="0" err="1"/>
              <a:t>GridSearchCV</a:t>
            </a:r>
            <a:endParaRPr lang="en-US" dirty="0"/>
          </a:p>
          <a:p>
            <a:pPr lvl="1"/>
            <a:r>
              <a:rPr lang="en-US" dirty="0"/>
              <a:t>C: 10</a:t>
            </a:r>
          </a:p>
          <a:p>
            <a:pPr lvl="1"/>
            <a:r>
              <a:rPr lang="en-US" dirty="0" err="1"/>
              <a:t>Class_Weight</a:t>
            </a:r>
            <a:r>
              <a:rPr lang="en-US" dirty="0"/>
              <a:t>: ‘balance’</a:t>
            </a:r>
          </a:p>
          <a:p>
            <a:r>
              <a:rPr lang="en-US" dirty="0"/>
              <a:t>Cross-Validation Scores (</a:t>
            </a:r>
            <a:r>
              <a:rPr lang="en-US" dirty="0" err="1"/>
              <a:t>Kfold</a:t>
            </a:r>
            <a:r>
              <a:rPr lang="en-US" dirty="0"/>
              <a:t> is 5)</a:t>
            </a:r>
          </a:p>
          <a:p>
            <a:pPr lvl="1"/>
            <a:r>
              <a:rPr lang="en-US" dirty="0"/>
              <a:t>Mean: 0.77</a:t>
            </a:r>
          </a:p>
          <a:p>
            <a:pPr lvl="1"/>
            <a:r>
              <a:rPr lang="en-US" dirty="0"/>
              <a:t>SD: 0.02</a:t>
            </a:r>
          </a:p>
          <a:p>
            <a:endParaRPr 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14018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79DD91-DB3F-9167-DD1D-381B78FF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Comparing LR with RF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7C7B6-AC62-89DB-EC54-2910134A8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Logistic Regression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61EF52-9110-FDB5-B8BC-CF58272BF9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N" dirty="0"/>
              <a:t>Accuracy: </a:t>
            </a:r>
            <a:r>
              <a:rPr lang="en-CN" dirty="0">
                <a:solidFill>
                  <a:srgbClr val="00B050"/>
                </a:solidFill>
              </a:rPr>
              <a:t>80%</a:t>
            </a:r>
          </a:p>
          <a:p>
            <a:r>
              <a:rPr lang="en-CN" dirty="0"/>
              <a:t>Precision: </a:t>
            </a:r>
            <a:r>
              <a:rPr lang="en-CN" dirty="0">
                <a:solidFill>
                  <a:srgbClr val="FF0000"/>
                </a:solidFill>
              </a:rPr>
              <a:t>70% </a:t>
            </a:r>
            <a:r>
              <a:rPr lang="en-CN" dirty="0"/>
              <a:t>(0), </a:t>
            </a:r>
            <a:r>
              <a:rPr lang="en-CN" dirty="0">
                <a:solidFill>
                  <a:srgbClr val="00B050"/>
                </a:solidFill>
              </a:rPr>
              <a:t>85%</a:t>
            </a:r>
            <a:r>
              <a:rPr lang="en-CN" dirty="0"/>
              <a:t> (1)</a:t>
            </a:r>
          </a:p>
          <a:p>
            <a:r>
              <a:rPr lang="en-CN" dirty="0"/>
              <a:t>Recall: </a:t>
            </a:r>
            <a:r>
              <a:rPr lang="en-CN" dirty="0">
                <a:solidFill>
                  <a:srgbClr val="00B050"/>
                </a:solidFill>
              </a:rPr>
              <a:t>72%</a:t>
            </a:r>
            <a:r>
              <a:rPr lang="en-CN" dirty="0"/>
              <a:t> (0), </a:t>
            </a:r>
            <a:r>
              <a:rPr lang="en-CN" dirty="0">
                <a:solidFill>
                  <a:srgbClr val="FF0000"/>
                </a:solidFill>
              </a:rPr>
              <a:t>83% </a:t>
            </a:r>
            <a:r>
              <a:rPr lang="en-CN" dirty="0"/>
              <a:t>(1)</a:t>
            </a:r>
          </a:p>
          <a:p>
            <a:r>
              <a:rPr lang="en-CN" dirty="0"/>
              <a:t>F1: </a:t>
            </a:r>
            <a:r>
              <a:rPr lang="en-CN" dirty="0">
                <a:solidFill>
                  <a:srgbClr val="00B050"/>
                </a:solidFill>
              </a:rPr>
              <a:t>71%</a:t>
            </a:r>
            <a:r>
              <a:rPr lang="en-CN" dirty="0"/>
              <a:t> (0), </a:t>
            </a:r>
            <a:r>
              <a:rPr lang="en-CN" dirty="0">
                <a:solidFill>
                  <a:srgbClr val="FF0000"/>
                </a:solidFill>
              </a:rPr>
              <a:t>84%</a:t>
            </a:r>
            <a:r>
              <a:rPr lang="en-CN" dirty="0">
                <a:solidFill>
                  <a:srgbClr val="00B050"/>
                </a:solidFill>
              </a:rPr>
              <a:t> </a:t>
            </a:r>
            <a:r>
              <a:rPr lang="en-CN" dirty="0"/>
              <a:t>(1)</a:t>
            </a:r>
          </a:p>
          <a:p>
            <a:r>
              <a:rPr lang="en-CN" dirty="0"/>
              <a:t>ROC-AUC: </a:t>
            </a:r>
            <a:r>
              <a:rPr lang="en-CN" dirty="0">
                <a:solidFill>
                  <a:srgbClr val="FF0000"/>
                </a:solidFill>
              </a:rPr>
              <a:t>0.87</a:t>
            </a:r>
          </a:p>
          <a:p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CAFFA9-348B-FEE6-243D-D3684D5EF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N" dirty="0"/>
              <a:t>Random Forest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A1FA7-7D0A-40DE-0C33-EE69DFDD8DB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CN" dirty="0"/>
              <a:t>Accuracy: </a:t>
            </a:r>
            <a:r>
              <a:rPr lang="en-CN" dirty="0">
                <a:solidFill>
                  <a:srgbClr val="FF0000"/>
                </a:solidFill>
              </a:rPr>
              <a:t>79%</a:t>
            </a:r>
          </a:p>
          <a:p>
            <a:r>
              <a:rPr lang="en-CN" dirty="0"/>
              <a:t>Precision: </a:t>
            </a:r>
            <a:r>
              <a:rPr lang="en-CN" dirty="0">
                <a:solidFill>
                  <a:srgbClr val="00B050"/>
                </a:solidFill>
              </a:rPr>
              <a:t>83%</a:t>
            </a:r>
            <a:r>
              <a:rPr lang="en-CN" dirty="0"/>
              <a:t> (0), </a:t>
            </a:r>
            <a:r>
              <a:rPr lang="en-CN" dirty="0">
                <a:solidFill>
                  <a:srgbClr val="FF0000"/>
                </a:solidFill>
              </a:rPr>
              <a:t>77% </a:t>
            </a:r>
            <a:r>
              <a:rPr lang="en-CN" dirty="0"/>
              <a:t>(1)</a:t>
            </a:r>
          </a:p>
          <a:p>
            <a:r>
              <a:rPr lang="en-CN" dirty="0"/>
              <a:t>Recall: </a:t>
            </a:r>
            <a:r>
              <a:rPr lang="en-CN" dirty="0">
                <a:solidFill>
                  <a:srgbClr val="FF0000"/>
                </a:solidFill>
              </a:rPr>
              <a:t>48% </a:t>
            </a:r>
            <a:r>
              <a:rPr lang="en-CN" dirty="0"/>
              <a:t>(0), </a:t>
            </a:r>
            <a:r>
              <a:rPr lang="en-CN" dirty="0">
                <a:solidFill>
                  <a:srgbClr val="00B050"/>
                </a:solidFill>
              </a:rPr>
              <a:t>95%</a:t>
            </a:r>
            <a:r>
              <a:rPr lang="en-CN" dirty="0"/>
              <a:t> (1)</a:t>
            </a:r>
          </a:p>
          <a:p>
            <a:r>
              <a:rPr lang="en-CN" dirty="0"/>
              <a:t>F1: </a:t>
            </a:r>
            <a:r>
              <a:rPr lang="en-CN" dirty="0">
                <a:solidFill>
                  <a:srgbClr val="FF0000"/>
                </a:solidFill>
              </a:rPr>
              <a:t>61%</a:t>
            </a:r>
            <a:r>
              <a:rPr lang="en-CN" dirty="0"/>
              <a:t> (0), </a:t>
            </a:r>
            <a:r>
              <a:rPr lang="en-CN" dirty="0">
                <a:solidFill>
                  <a:srgbClr val="00B050"/>
                </a:solidFill>
              </a:rPr>
              <a:t>85%</a:t>
            </a:r>
            <a:r>
              <a:rPr lang="en-CN" dirty="0"/>
              <a:t> (1)</a:t>
            </a:r>
          </a:p>
          <a:p>
            <a:r>
              <a:rPr lang="en-CN" dirty="0"/>
              <a:t>ROC-AUC: </a:t>
            </a:r>
            <a:r>
              <a:rPr lang="en-CN" dirty="0">
                <a:solidFill>
                  <a:srgbClr val="00B050"/>
                </a:solidFill>
              </a:rPr>
              <a:t>0.88</a:t>
            </a:r>
          </a:p>
        </p:txBody>
      </p:sp>
    </p:spTree>
    <p:extLst>
      <p:ext uri="{BB962C8B-B14F-4D97-AF65-F5344CB8AC3E}">
        <p14:creationId xmlns:p14="http://schemas.microsoft.com/office/powerpoint/2010/main" val="3486245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25E4-FFB7-BB2B-B85C-FD6E7345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Error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57DC-EB92-32F7-F54E-42F78A655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Two Issues</a:t>
            </a:r>
          </a:p>
          <a:p>
            <a:r>
              <a:rPr lang="en-CN" dirty="0"/>
              <a:t>1) Citation/Footnote Paragraphs (</a:t>
            </a:r>
            <a:r>
              <a:rPr lang="en-CN" dirty="0">
                <a:solidFill>
                  <a:srgbClr val="0070C0"/>
                </a:solidFill>
              </a:rPr>
              <a:t>Legal </a:t>
            </a:r>
            <a:r>
              <a:rPr lang="en-CN" dirty="0">
                <a:solidFill>
                  <a:schemeClr val="tx1"/>
                </a:solidFill>
              </a:rPr>
              <a:t>and </a:t>
            </a:r>
            <a:r>
              <a:rPr lang="en-CN" dirty="0">
                <a:solidFill>
                  <a:srgbClr val="C00000"/>
                </a:solidFill>
              </a:rPr>
              <a:t>Non-Legal</a:t>
            </a:r>
            <a:r>
              <a:rPr lang="en-CN" dirty="0">
                <a:solidFill>
                  <a:schemeClr val="tx1"/>
                </a:solidFill>
              </a:rPr>
              <a:t>)</a:t>
            </a:r>
          </a:p>
          <a:p>
            <a:endParaRPr lang="en-CN" dirty="0">
              <a:solidFill>
                <a:schemeClr val="tx1"/>
              </a:solidFill>
            </a:endParaRPr>
          </a:p>
          <a:p>
            <a:endParaRPr lang="en-CN" dirty="0">
              <a:solidFill>
                <a:schemeClr val="tx1"/>
              </a:solidFill>
            </a:endParaRPr>
          </a:p>
          <a:p>
            <a:r>
              <a:rPr lang="en-CN" dirty="0">
                <a:solidFill>
                  <a:schemeClr val="tx1"/>
                </a:solidFill>
              </a:rPr>
              <a:t>2) Semantic Context</a:t>
            </a:r>
            <a:endParaRPr lang="en-CN" dirty="0"/>
          </a:p>
          <a:p>
            <a:pPr lvl="1"/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36D01-FD2F-391D-092A-CAE091DD3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84328"/>
            <a:ext cx="7772400" cy="289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B4299F-A9B5-C2C6-5FF4-C65C0BDDE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857" y="4611861"/>
            <a:ext cx="9579943" cy="1255539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F96B750E-67C3-5F68-2D85-B963D9357303}"/>
              </a:ext>
            </a:extLst>
          </p:cNvPr>
          <p:cNvSpPr/>
          <p:nvPr/>
        </p:nvSpPr>
        <p:spPr>
          <a:xfrm>
            <a:off x="9727894" y="4611861"/>
            <a:ext cx="506777" cy="180476"/>
          </a:xfrm>
          <a:prstGeom prst="fram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3175"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82B45B6F-F619-9833-0EC6-8B892445654B}"/>
              </a:ext>
            </a:extLst>
          </p:cNvPr>
          <p:cNvSpPr/>
          <p:nvPr/>
        </p:nvSpPr>
        <p:spPr>
          <a:xfrm>
            <a:off x="1392857" y="5042171"/>
            <a:ext cx="506777" cy="197459"/>
          </a:xfrm>
          <a:prstGeom prst="fram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3175"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5DBDC574-597F-F929-4A96-755EA3828FAA}"/>
              </a:ext>
            </a:extLst>
          </p:cNvPr>
          <p:cNvSpPr/>
          <p:nvPr/>
        </p:nvSpPr>
        <p:spPr>
          <a:xfrm>
            <a:off x="7390482" y="5686924"/>
            <a:ext cx="506777" cy="180476"/>
          </a:xfrm>
          <a:prstGeom prst="fram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3175"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223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A2A41-9868-43B1-EE00-F62A268C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3432071-D30B-505A-9072-52CA99ECB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085E3FF-136F-4497-8881-CFBA34423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F48C0BA-3B6B-32C3-DD08-C57E7053D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BC0319-C401-FCAE-D457-36825652B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BFAA367-8402-F082-DAD9-68E41EB54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en-CN" dirty="0"/>
              <a:t>Conclusions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C6EEEAC-6FBA-7952-EA0C-057203422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30153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EDC5-9894-92FD-CB77-85FE1465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E8E4-0862-36A5-3C23-7659FA3BD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opinions contain 2x more legal reasoning paragraphs than non-legal</a:t>
            </a:r>
          </a:p>
          <a:p>
            <a:pPr lvl="1"/>
            <a:r>
              <a:rPr lang="en-US" dirty="0"/>
              <a:t>2/3 to 1/3</a:t>
            </a:r>
          </a:p>
          <a:p>
            <a:r>
              <a:rPr lang="en-US" dirty="0"/>
              <a:t>Logistic Regression model is likely to be more appropriate for legal classifying task</a:t>
            </a:r>
          </a:p>
          <a:p>
            <a:pPr lvl="1"/>
            <a:r>
              <a:rPr lang="en-US" dirty="0"/>
              <a:t>Less influence from class imbalance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63638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E648-E753-AE81-E587-214EFA6D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19DC9-5504-F4CC-19D6-E465AA254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Refine API query and paragraph cleaning</a:t>
            </a:r>
          </a:p>
          <a:p>
            <a:r>
              <a:rPr lang="en-CN" dirty="0"/>
              <a:t>Legal-BERT for semantic legal context</a:t>
            </a:r>
          </a:p>
          <a:p>
            <a:r>
              <a:rPr lang="en-CN" dirty="0"/>
              <a:t>More hand labeling for future testing</a:t>
            </a:r>
          </a:p>
          <a:p>
            <a:r>
              <a:rPr lang="en-CN" dirty="0"/>
              <a:t>Ensemble learning for model performance</a:t>
            </a:r>
          </a:p>
          <a:p>
            <a:endParaRPr lang="en-CN" dirty="0"/>
          </a:p>
          <a:p>
            <a:r>
              <a:rPr lang="en-CN" dirty="0"/>
              <a:t>Future: law declaring vs law applying!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0986384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693</TotalTime>
  <Words>730</Words>
  <Application>Microsoft Macintosh PowerPoint</Application>
  <PresentationFormat>Widescreen</PresentationFormat>
  <Paragraphs>116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Franklin Gothic Book</vt:lpstr>
      <vt:lpstr>Crop</vt:lpstr>
      <vt:lpstr>Legal Reasoning in the US Supreme Court</vt:lpstr>
      <vt:lpstr>background</vt:lpstr>
      <vt:lpstr>Motivation</vt:lpstr>
      <vt:lpstr>ML Task: Classify Legal Reasoning in Supreme Court Opinions</vt:lpstr>
      <vt:lpstr>Data</vt:lpstr>
      <vt:lpstr>Source</vt:lpstr>
      <vt:lpstr>Data Preprocessing </vt:lpstr>
      <vt:lpstr>Features (numeric, text, categorical)</vt:lpstr>
      <vt:lpstr>Labeling</vt:lpstr>
      <vt:lpstr>Models</vt:lpstr>
      <vt:lpstr>DT Classifier</vt:lpstr>
      <vt:lpstr>Very Low Information Gain at Top Node </vt:lpstr>
      <vt:lpstr>Random Forest Classifier</vt:lpstr>
      <vt:lpstr>Better Information Gain at Top Node</vt:lpstr>
      <vt:lpstr>Tree-Based Comparison</vt:lpstr>
      <vt:lpstr>But RF still has problems</vt:lpstr>
      <vt:lpstr>Logistic Regression</vt:lpstr>
      <vt:lpstr>Comparing LR with RF</vt:lpstr>
      <vt:lpstr>Error Analysis</vt:lpstr>
      <vt:lpstr>Conclusions</vt:lpstr>
      <vt:lpstr>Conclusions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 Earley</dc:creator>
  <cp:lastModifiedBy>Brady Earley</cp:lastModifiedBy>
  <cp:revision>9</cp:revision>
  <dcterms:created xsi:type="dcterms:W3CDTF">2026-03-05T22:36:46Z</dcterms:created>
  <dcterms:modified xsi:type="dcterms:W3CDTF">2026-03-07T03:36:19Z</dcterms:modified>
</cp:coreProperties>
</file>